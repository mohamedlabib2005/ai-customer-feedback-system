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640080"/>
            <a:ext cx="2926080" cy="2926080"/>
          </a:xfrm>
          <a:prstGeom prst="ellipse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46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822960" y="5303520"/>
            <a:ext cx="2194560" cy="2194560"/>
          </a:xfrm>
          <a:prstGeom prst="ellipse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9875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AI Customer Feedback
Analysis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DDCEB"/>
                </a:solidFill>
              </a:rPr>
              <a:t>Sentiment Analysis • Complaint Clustering • Business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69080"/>
            <a:ext cx="4114800" cy="438912"/>
          </a:xfrm>
          <a:prstGeom prst="roundRect">
            <a:avLst/>
          </a:prstGeom>
          <a:solidFill>
            <a:srgbClr val="46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Python + NLP + Machine Learning +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Customer reviews contain valuable information—but thousands of comments are difficult to analyze manually.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232B34"/>
                </a:solidFill>
              </a:rPr>
              <a:t>Identify whether a customer review is positive or negative.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32B34"/>
                </a:solidFill>
              </a:rPr>
              <a:t>Understand the main issues driving negative customer experiences.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32B34"/>
                </a:solidFill>
              </a:rPr>
              <a:t>Turn unstructured review text into measurable business insights.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32B34"/>
                </a:solidFill>
              </a:rPr>
              <a:t>Provide a simple interface that can analyze a new review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2. Dataset &amp;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Women’s Clothing E-Commerce Reviews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240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19110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A6EBB"/>
                </a:solidFill>
              </a:rPr>
              <a:t>23,486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17320"/>
            <a:ext cx="2240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0712" y="1600200"/>
            <a:ext cx="19110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46B1C9"/>
                </a:solidFill>
              </a:rPr>
              <a:t>11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17320"/>
            <a:ext cx="22402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25312" y="1600200"/>
            <a:ext cx="19110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369166"/>
                </a:solidFill>
              </a:rPr>
              <a:t>5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Text / category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27432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600200"/>
            <a:ext cx="241401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C94D4D"/>
                </a:solidFill>
              </a:rPr>
              <a:t>1–5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Rating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Key variables: Age, Review Text, Rating, Recommended IND, Positive Feedback Count, Department, Division, and Class.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Initial checks included dataset shape, data types, duplicates, missing values, rating distribution, and department categories.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Review Text was the core input for the NLP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3.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The analysis connects customer ratings, recommendations, demographics, and departments.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2A6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6EBB"/>
                </a:solidFill>
              </a:rPr>
              <a:t>Ratings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709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B34"/>
                </a:solidFill>
              </a:rPr>
              <a:t>Ratings from 1 to 5 were examined to understand overall satisfaction.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36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69166"/>
                </a:solidFill>
              </a:rP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709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B34"/>
                </a:solidFill>
              </a:rPr>
              <a:t>Rating level was compared with whether customers recommended the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46B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B1C9"/>
                </a:solidFill>
              </a:rPr>
              <a:t>Departments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1"/>
            <a:ext cx="4709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B34"/>
                </a:solidFill>
              </a:rPr>
              <a:t>Rating patterns were compared across departments to identify stronger and weaker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74720"/>
            <a:ext cx="52120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9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393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4D4D"/>
                </a:solidFill>
              </a:rPr>
              <a:t>Age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96511"/>
            <a:ext cx="4709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B34"/>
                </a:solidFill>
              </a:rPr>
              <a:t>Customers were grouped into age ranges to explore buying and feedback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4. Finding the Most Important Complaints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Negative reviews were prioritized using rating and positive-feedback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Negative reviews were defined primarily as ratings 1–2.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Within negative reviews, comments were sorted by Positive Feedback Count.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The top urgent complaints represent issues that many other customers found useful or relatable.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This creates a business-oriented way to prioritize customer pain points instead of treating every comment equally.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892040"/>
            <a:ext cx="29260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5074920"/>
            <a:ext cx="2596896" cy="6857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C94D4D"/>
                </a:solidFill>
              </a:rPr>
              <a:t>Rating ≤ 2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Negative-review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892040"/>
            <a:ext cx="29260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5074920"/>
            <a:ext cx="2596896" cy="6857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A6EBB"/>
                </a:solidFill>
              </a:rPr>
              <a:t>Top 10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Urgent complaints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92040"/>
            <a:ext cx="292608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5074920"/>
            <a:ext cx="2596896" cy="6857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369166"/>
                </a:solidFill>
              </a:rPr>
              <a:t>Feedback Count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Priority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5. Natural Language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Text is transformed from raw customer language into machine-learning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24688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417320"/>
            <a:ext cx="640080" cy="640080"/>
          </a:xfrm>
          <a:prstGeom prst="ellipse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54533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97480"/>
                </a:solidFill>
              </a:rPr>
              <a:t>Lowercase, remove HTML/URLs, punctuation and extra spaces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1965960" cy="24688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3007" y="1417320"/>
            <a:ext cx="640080" cy="640080"/>
          </a:xfrm>
          <a:prstGeom prst="ellipse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7" y="154533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</a:rPr>
              <a:t>Stopwords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278892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97480"/>
                </a:solidFill>
              </a:rPr>
              <a:t>Remove common words while preserving important negations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1965960" cy="24688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4727" y="1417320"/>
            <a:ext cx="640080" cy="640080"/>
          </a:xfrm>
          <a:prstGeom prst="ellipse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154533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</a:rPr>
              <a:t>Lemmatize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78892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97480"/>
                </a:solidFill>
              </a:rPr>
              <a:t>Reduce words to their base 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1965960" cy="24688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6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56448" y="1417320"/>
            <a:ext cx="640080" cy="640080"/>
          </a:xfrm>
          <a:prstGeom prst="ellipse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54533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</a:rPr>
              <a:t>TF-IDF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78892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97480"/>
                </a:solidFill>
              </a:rPr>
              <a:t>Convert text into weighted numerical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28800"/>
            <a:ext cx="1965960" cy="24688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6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88168" y="1417320"/>
            <a:ext cx="640080" cy="640080"/>
          </a:xfrm>
          <a:prstGeom prst="ellipse">
            <a:avLst/>
          </a:prstGeom>
          <a:solidFill>
            <a:srgbClr val="36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8168" y="154533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24028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1F35"/>
                </a:solidFill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788920"/>
            <a:ext cx="1691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97480"/>
                </a:solidFill>
              </a:rPr>
              <a:t>Apply MaxAbsScaler before modeling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6. Sentiment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The project converts customer ratings and recommendations into a binary sentiment target.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9260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00200"/>
            <a:ext cx="25968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369166"/>
                </a:solidFill>
              </a:rPr>
              <a:t>89.53%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Logistic Regression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17320"/>
            <a:ext cx="29260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600200"/>
            <a:ext cx="25968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A6EBB"/>
                </a:solidFill>
              </a:rPr>
              <a:t>86.53%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Random Forest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29260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00200"/>
            <a:ext cx="25968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46B1C9"/>
                </a:solidFill>
              </a:rPr>
              <a:t>2,000</a:t>
            </a:r>
          </a:p>
          <a:p>
            <a:pPr algn="ctr"/>
            <a:r>
              <a:rPr sz="1100">
                <a:solidFill>
                  <a:srgbClr val="697480"/>
                </a:solidFill>
              </a:rPr>
              <a:t>Maximum TF-IDF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Ratings 1–2 are treated as negative.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Rating 3 is classified using the Recommended IND signal; non-recommending neutral reviews become negative.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Ratings 4–5 are positive.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32B34"/>
                </a:solidFill>
              </a:rPr>
              <a:t>Logistic Regression performed better than Random Forest on the held-out test set and was selected for the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7. Understanding What Customers Talk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Word-frequency analysis and clustering help move from sentiment to actionable themes.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011680" cy="438912"/>
          </a:xfrm>
          <a:prstGeom prst="roundRect">
            <a:avLst/>
          </a:prstGeom>
          <a:solidFill>
            <a:srgbClr val="36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Positive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63040"/>
            <a:ext cx="2011680" cy="438912"/>
          </a:xfrm>
          <a:prstGeom prst="roundRect">
            <a:avLst/>
          </a:prstGeom>
          <a:solidFill>
            <a:srgbClr val="C9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Negative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463040"/>
            <a:ext cx="2377440" cy="438912"/>
          </a:xfrm>
          <a:prstGeom prst="round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K-Means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Top positive and negative words were extracted after cleaning and encoding the reviews.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Negative reviews were transformed with the same TF-IDF representation.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K-Means was applied to negative reviews using 3 clusters to discover groups of similar complaints.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These clusters can support product, quality, sizing, fit, service, or other issue-level investigation.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8. From Notebook to Working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A Streamlit interface turns the analysis into a practical customer-feedback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4231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2A6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21F35"/>
                </a:solidFill>
              </a:rPr>
              <a:t>Customer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97480"/>
                </a:solidFill>
              </a:rPr>
              <a:t>User enters free-text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468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97480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231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46B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1488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21F35"/>
                </a:solidFill>
              </a:rP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97480"/>
                </a:solidFill>
              </a:rPr>
              <a:t>Clean + TF-IDF +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97480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24231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369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21F35"/>
                </a:solidFill>
              </a:rP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97480"/>
                </a:solidFill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468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69748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4231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C9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1488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21F35"/>
                </a:solidFill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743200"/>
            <a:ext cx="2057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97480"/>
                </a:solidFill>
              </a:rPr>
              <a:t>Positive / Negative +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232B34"/>
                </a:solidFill>
              </a:rPr>
              <a:t>Saved assets: TF-IDF vectorizer, scaler, Logistic Regression model, and K-Means model.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B34"/>
                </a:solidFill>
              </a:rPr>
              <a:t>Users receive a sentiment label and prediction confidence directly in the interface.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5"/>
                </a:solidFill>
              </a:rPr>
              <a:t>9. Business Value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480"/>
                </a:solidFill>
              </a:rPr>
              <a:t>The system helps transform large volumes of customer language into faster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Prioritize highly engaged negative complaints for investigation.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Monitor sentiment continuously to detect emerging customer issues.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Use complaint clusters to route problems to the right product or business team.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Combine sentiment with department, age, rating, and recommendation data for deeper segmentation.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32B34"/>
                </a:solidFill>
              </a:rPr>
              <a:t>Use the model as a decision-support tool—not a replacement for human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623560"/>
            <a:ext cx="1554480" cy="438912"/>
          </a:xfrm>
          <a:prstGeom prst="roundRect">
            <a:avLst/>
          </a:prstGeom>
          <a:solidFill>
            <a:srgbClr val="2A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Automated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5623560"/>
            <a:ext cx="1554480" cy="438912"/>
          </a:xfrm>
          <a:prstGeom prst="roundRect">
            <a:avLst/>
          </a:prstGeom>
          <a:solidFill>
            <a:srgbClr val="46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5669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623560"/>
            <a:ext cx="1645920" cy="438912"/>
          </a:xfrm>
          <a:prstGeom prst="roundRect">
            <a:avLst/>
          </a:prstGeom>
          <a:solidFill>
            <a:srgbClr val="36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5669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Actionable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623560"/>
            <a:ext cx="2011680" cy="438912"/>
          </a:xfrm>
          <a:prstGeom prst="roundRect">
            <a:avLst/>
          </a:prstGeom>
          <a:solidFill>
            <a:srgbClr val="C9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669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Business-focused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48840"/>
            <a:ext cx="9875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DCE6F0"/>
                </a:solidFill>
              </a:rPr>
              <a:t>The project combines EDA, NLP, machine learning, and a Streamlit application to create an end-to-end customer feedback analytics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4800600"/>
            <a:ext cx="4297680" cy="438912"/>
          </a:xfrm>
          <a:prstGeom prst="roundRect">
            <a:avLst/>
          </a:prstGeom>
          <a:solidFill>
            <a:srgbClr val="46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484632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89.53% Logistic Regression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7150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